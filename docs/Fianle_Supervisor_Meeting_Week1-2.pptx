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stotelica Pro" panose="020B0604020202020204" charset="0"/>
      <p:regular r:id="rId14"/>
    </p:embeddedFont>
    <p:embeddedFont>
      <p:font typeface="Garet" panose="020B0604020202020204" charset="0"/>
      <p:regular r:id="rId15"/>
    </p:embeddedFont>
    <p:embeddedFont>
      <p:font typeface="Garet Bold" panose="020B0604020202020204" charset="0"/>
      <p:regular r:id="rId16"/>
    </p:embeddedFont>
    <p:embeddedFont>
      <p:font typeface="Open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94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738" y="9629190"/>
            <a:ext cx="20772950" cy="657810"/>
          </a:xfrm>
          <a:custGeom>
            <a:avLst/>
            <a:gdLst/>
            <a:ahLst/>
            <a:cxnLst/>
            <a:rect l="l" t="t" r="r" b="b"/>
            <a:pathLst>
              <a:path w="20772950" h="657810">
                <a:moveTo>
                  <a:pt x="0" y="0"/>
                </a:moveTo>
                <a:lnTo>
                  <a:pt x="20772950" y="0"/>
                </a:lnTo>
                <a:lnTo>
                  <a:pt x="20772950" y="657810"/>
                </a:lnTo>
                <a:lnTo>
                  <a:pt x="0" y="65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8579283" y="-367709"/>
            <a:ext cx="10161929" cy="10654709"/>
          </a:xfrm>
          <a:custGeom>
            <a:avLst/>
            <a:gdLst/>
            <a:ahLst/>
            <a:cxnLst/>
            <a:rect l="l" t="t" r="r" b="b"/>
            <a:pathLst>
              <a:path w="10161929" h="10654709">
                <a:moveTo>
                  <a:pt x="10161929" y="10654709"/>
                </a:moveTo>
                <a:lnTo>
                  <a:pt x="0" y="10654709"/>
                </a:lnTo>
                <a:lnTo>
                  <a:pt x="0" y="0"/>
                </a:lnTo>
                <a:lnTo>
                  <a:pt x="10161929" y="0"/>
                </a:lnTo>
                <a:lnTo>
                  <a:pt x="10161929" y="106547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1671229" y="2319471"/>
            <a:ext cx="11472272" cy="213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6114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Classification of Malignant Melanoma in Canines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70258" y="8826500"/>
            <a:ext cx="393245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AF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@reallygreatsite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1229" y="4705238"/>
            <a:ext cx="7320371" cy="456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68"/>
              </a:lnSpc>
              <a:spcBef>
                <a:spcPct val="0"/>
              </a:spcBef>
            </a:pPr>
            <a:r>
              <a:rPr lang="en-US" sz="262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Week 1–2 Progress — Foundation Phase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0258" y="6168213"/>
            <a:ext cx="11472272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Muhammad Tayyab Abbas · MSc AI &amp; Data Science · University of Hull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0258" y="6731255"/>
            <a:ext cx="9988342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Supervisor: Dr Claire Cashmore · 1st fortnightly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8988"/>
            <a:ext cx="11963598" cy="8558958"/>
          </a:xfrm>
          <a:custGeom>
            <a:avLst/>
            <a:gdLst/>
            <a:ahLst/>
            <a:cxnLst/>
            <a:rect l="l" t="t" r="r" b="b"/>
            <a:pathLst>
              <a:path w="11963598" h="8558958">
                <a:moveTo>
                  <a:pt x="0" y="0"/>
                </a:moveTo>
                <a:lnTo>
                  <a:pt x="11963598" y="0"/>
                </a:lnTo>
                <a:lnTo>
                  <a:pt x="11963598" y="8558957"/>
                </a:lnTo>
                <a:lnTo>
                  <a:pt x="0" y="8558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338331" y="9872845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6" y="0"/>
                </a:lnTo>
                <a:lnTo>
                  <a:pt x="18965016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694753" y="3799136"/>
            <a:ext cx="15719406" cy="3506371"/>
          </a:xfrm>
          <a:custGeom>
            <a:avLst/>
            <a:gdLst/>
            <a:ahLst/>
            <a:cxnLst/>
            <a:rect l="l" t="t" r="r" b="b"/>
            <a:pathLst>
              <a:path w="15719406" h="3506371">
                <a:moveTo>
                  <a:pt x="0" y="0"/>
                </a:moveTo>
                <a:lnTo>
                  <a:pt x="15719406" y="0"/>
                </a:lnTo>
                <a:lnTo>
                  <a:pt x="15719406" y="3506370"/>
                </a:lnTo>
                <a:lnTo>
                  <a:pt x="0" y="3506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970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5570328" y="7441442"/>
            <a:ext cx="11688972" cy="57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33"/>
              </a:lnSpc>
            </a:pPr>
            <a:r>
              <a:rPr lang="en-US" sz="3309">
                <a:solidFill>
                  <a:srgbClr val="2C3423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12-week project: 26 May → 14 Aug 2026, submission 17 Aug 2026.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65227" y="2500353"/>
            <a:ext cx="804893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Where we are in the plan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104242" y="9095175"/>
            <a:ext cx="15355014" cy="1580287"/>
          </a:xfrm>
          <a:custGeom>
            <a:avLst/>
            <a:gdLst/>
            <a:ahLst/>
            <a:cxnLst/>
            <a:rect l="l" t="t" r="r" b="b"/>
            <a:pathLst>
              <a:path w="15355014" h="1580287">
                <a:moveTo>
                  <a:pt x="15355013" y="0"/>
                </a:moveTo>
                <a:lnTo>
                  <a:pt x="0" y="0"/>
                </a:lnTo>
                <a:lnTo>
                  <a:pt x="0" y="1580287"/>
                </a:lnTo>
                <a:lnTo>
                  <a:pt x="15355013" y="1580287"/>
                </a:lnTo>
                <a:lnTo>
                  <a:pt x="153550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240090" y="0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5" y="0"/>
                </a:lnTo>
                <a:lnTo>
                  <a:pt x="18965015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028700" y="3492512"/>
            <a:ext cx="16605873" cy="2656940"/>
          </a:xfrm>
          <a:custGeom>
            <a:avLst/>
            <a:gdLst/>
            <a:ahLst/>
            <a:cxnLst/>
            <a:rect l="l" t="t" r="r" b="b"/>
            <a:pathLst>
              <a:path w="16605873" h="2656940">
                <a:moveTo>
                  <a:pt x="0" y="0"/>
                </a:moveTo>
                <a:lnTo>
                  <a:pt x="16605873" y="0"/>
                </a:lnTo>
                <a:lnTo>
                  <a:pt x="16605873" y="2656940"/>
                </a:lnTo>
                <a:lnTo>
                  <a:pt x="0" y="2656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1205682" y="6301565"/>
            <a:ext cx="2580627" cy="50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59"/>
              </a:lnSpc>
            </a:pPr>
            <a:r>
              <a:rPr lang="en-US" sz="2971">
                <a:solidFill>
                  <a:srgbClr val="2C3423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On schedule.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5682" y="2196441"/>
            <a:ext cx="1014643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Planned vs. done (Gantt) </a:t>
            </a:r>
          </a:p>
        </p:txBody>
      </p:sp>
      <p:sp>
        <p:nvSpPr>
          <p:cNvPr id="7" name="Freeform 7"/>
          <p:cNvSpPr/>
          <p:nvPr/>
        </p:nvSpPr>
        <p:spPr>
          <a:xfrm>
            <a:off x="-240090" y="6808822"/>
            <a:ext cx="4814754" cy="3757514"/>
          </a:xfrm>
          <a:custGeom>
            <a:avLst/>
            <a:gdLst/>
            <a:ahLst/>
            <a:cxnLst/>
            <a:rect l="l" t="t" r="r" b="b"/>
            <a:pathLst>
              <a:path w="4814754" h="3757514">
                <a:moveTo>
                  <a:pt x="0" y="0"/>
                </a:moveTo>
                <a:lnTo>
                  <a:pt x="4814753" y="0"/>
                </a:lnTo>
                <a:lnTo>
                  <a:pt x="4814753" y="3757514"/>
                </a:lnTo>
                <a:lnTo>
                  <a:pt x="0" y="3757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104242" y="9095175"/>
            <a:ext cx="15355014" cy="1580287"/>
          </a:xfrm>
          <a:custGeom>
            <a:avLst/>
            <a:gdLst/>
            <a:ahLst/>
            <a:cxnLst/>
            <a:rect l="l" t="t" r="r" b="b"/>
            <a:pathLst>
              <a:path w="15355014" h="1580287">
                <a:moveTo>
                  <a:pt x="15355013" y="0"/>
                </a:moveTo>
                <a:lnTo>
                  <a:pt x="0" y="0"/>
                </a:lnTo>
                <a:lnTo>
                  <a:pt x="0" y="1580287"/>
                </a:lnTo>
                <a:lnTo>
                  <a:pt x="15355013" y="1580287"/>
                </a:lnTo>
                <a:lnTo>
                  <a:pt x="153550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240090" y="0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5" y="0"/>
                </a:lnTo>
                <a:lnTo>
                  <a:pt x="18965015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1205682" y="1579238"/>
            <a:ext cx="1014643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1 · Environment setup 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682" y="2664858"/>
            <a:ext cx="16244118" cy="2904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Isolated virtual environment (.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venv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) — other projects untouched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Python 3.12 + OpenCV, scikit-image, scikit-learn, 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OpenSlide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PyTorch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next) 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Reproducible: requirements.txt + requirements-lock.txt + 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setup_env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scripts 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Clean modular 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src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/ package, version-controlled (Git)</a:t>
            </a:r>
          </a:p>
        </p:txBody>
      </p:sp>
      <p:sp>
        <p:nvSpPr>
          <p:cNvPr id="6" name="Freeform 6"/>
          <p:cNvSpPr/>
          <p:nvPr/>
        </p:nvSpPr>
        <p:spPr>
          <a:xfrm>
            <a:off x="-240090" y="6808822"/>
            <a:ext cx="4814754" cy="3757514"/>
          </a:xfrm>
          <a:custGeom>
            <a:avLst/>
            <a:gdLst/>
            <a:ahLst/>
            <a:cxnLst/>
            <a:rect l="l" t="t" r="r" b="b"/>
            <a:pathLst>
              <a:path w="4814754" h="3757514">
                <a:moveTo>
                  <a:pt x="0" y="0"/>
                </a:moveTo>
                <a:lnTo>
                  <a:pt x="4814753" y="0"/>
                </a:lnTo>
                <a:lnTo>
                  <a:pt x="4814753" y="3757514"/>
                </a:lnTo>
                <a:lnTo>
                  <a:pt x="0" y="3757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104242" y="9095175"/>
            <a:ext cx="15355014" cy="1580287"/>
          </a:xfrm>
          <a:custGeom>
            <a:avLst/>
            <a:gdLst/>
            <a:ahLst/>
            <a:cxnLst/>
            <a:rect l="l" t="t" r="r" b="b"/>
            <a:pathLst>
              <a:path w="15355014" h="1580287">
                <a:moveTo>
                  <a:pt x="15355013" y="0"/>
                </a:moveTo>
                <a:lnTo>
                  <a:pt x="0" y="0"/>
                </a:lnTo>
                <a:lnTo>
                  <a:pt x="0" y="1580287"/>
                </a:lnTo>
                <a:lnTo>
                  <a:pt x="15355013" y="1580287"/>
                </a:lnTo>
                <a:lnTo>
                  <a:pt x="153550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240090" y="0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5" y="0"/>
                </a:lnTo>
                <a:lnTo>
                  <a:pt x="18965015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1205682" y="1579238"/>
            <a:ext cx="1014643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2 · Literature review refined 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682" y="2664858"/>
            <a:ext cx="15710718" cy="3648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Segmentation: U-Net (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Ronneberger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2015), Attention U-Net (Oktay 2018)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Classification: ResNet-50 (He 2016), EfficientNet-B3 (Tan &amp; Le 2019)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Preprocessing: 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Macenko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stain 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normalisation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(2009)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Interpretability: Grad-CAM (Selvaraju 2017)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Comparative oncology: Gillard (2014), 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Prouteau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&amp; André (2019)</a:t>
            </a:r>
          </a:p>
        </p:txBody>
      </p:sp>
      <p:sp>
        <p:nvSpPr>
          <p:cNvPr id="6" name="Freeform 6"/>
          <p:cNvSpPr/>
          <p:nvPr/>
        </p:nvSpPr>
        <p:spPr>
          <a:xfrm>
            <a:off x="-240090" y="6808822"/>
            <a:ext cx="4814754" cy="3757514"/>
          </a:xfrm>
          <a:custGeom>
            <a:avLst/>
            <a:gdLst/>
            <a:ahLst/>
            <a:cxnLst/>
            <a:rect l="l" t="t" r="r" b="b"/>
            <a:pathLst>
              <a:path w="4814754" h="3757514">
                <a:moveTo>
                  <a:pt x="0" y="0"/>
                </a:moveTo>
                <a:lnTo>
                  <a:pt x="4814753" y="0"/>
                </a:lnTo>
                <a:lnTo>
                  <a:pt x="4814753" y="3757514"/>
                </a:lnTo>
                <a:lnTo>
                  <a:pt x="0" y="3757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104242" y="9095175"/>
            <a:ext cx="15355014" cy="1580287"/>
          </a:xfrm>
          <a:custGeom>
            <a:avLst/>
            <a:gdLst/>
            <a:ahLst/>
            <a:cxnLst/>
            <a:rect l="l" t="t" r="r" b="b"/>
            <a:pathLst>
              <a:path w="15355014" h="1580287">
                <a:moveTo>
                  <a:pt x="15355013" y="0"/>
                </a:moveTo>
                <a:lnTo>
                  <a:pt x="0" y="0"/>
                </a:lnTo>
                <a:lnTo>
                  <a:pt x="0" y="1580287"/>
                </a:lnTo>
                <a:lnTo>
                  <a:pt x="15355013" y="1580287"/>
                </a:lnTo>
                <a:lnTo>
                  <a:pt x="153550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240090" y="0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5" y="0"/>
                </a:lnTo>
                <a:lnTo>
                  <a:pt x="18965015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1205682" y="1579238"/>
            <a:ext cx="151904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3 · Preprocessing pipeline — built &amp; validated 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9420" y="3549859"/>
            <a:ext cx="15190411" cy="2904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Quality check flags blurry / low-tissue / washed-out slides automatically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Macenko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removes scanner/lab 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colour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variation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Only tissue patches (≥50%) are kept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Stratified split preserves class balance</a:t>
            </a:r>
          </a:p>
        </p:txBody>
      </p:sp>
      <p:sp>
        <p:nvSpPr>
          <p:cNvPr id="6" name="Freeform 6"/>
          <p:cNvSpPr/>
          <p:nvPr/>
        </p:nvSpPr>
        <p:spPr>
          <a:xfrm>
            <a:off x="-240090" y="6808822"/>
            <a:ext cx="4814754" cy="3757514"/>
          </a:xfrm>
          <a:custGeom>
            <a:avLst/>
            <a:gdLst/>
            <a:ahLst/>
            <a:cxnLst/>
            <a:rect l="l" t="t" r="r" b="b"/>
            <a:pathLst>
              <a:path w="4814754" h="3757514">
                <a:moveTo>
                  <a:pt x="0" y="0"/>
                </a:moveTo>
                <a:lnTo>
                  <a:pt x="4814753" y="0"/>
                </a:lnTo>
                <a:lnTo>
                  <a:pt x="4814753" y="3757514"/>
                </a:lnTo>
                <a:lnTo>
                  <a:pt x="0" y="3757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7" name="TextBox 7"/>
          <p:cNvSpPr txBox="1"/>
          <p:nvPr/>
        </p:nvSpPr>
        <p:spPr>
          <a:xfrm>
            <a:off x="1219200" y="2600591"/>
            <a:ext cx="16598579" cy="673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76"/>
              </a:lnSpc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Whole-slide image → QA → 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Macenko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normalise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→ patch extraction → 70/15/15 split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104242" y="9095175"/>
            <a:ext cx="15355014" cy="1580287"/>
          </a:xfrm>
          <a:custGeom>
            <a:avLst/>
            <a:gdLst/>
            <a:ahLst/>
            <a:cxnLst/>
            <a:rect l="l" t="t" r="r" b="b"/>
            <a:pathLst>
              <a:path w="15355014" h="1580287">
                <a:moveTo>
                  <a:pt x="15355013" y="0"/>
                </a:moveTo>
                <a:lnTo>
                  <a:pt x="0" y="0"/>
                </a:lnTo>
                <a:lnTo>
                  <a:pt x="0" y="1580287"/>
                </a:lnTo>
                <a:lnTo>
                  <a:pt x="15355013" y="1580287"/>
                </a:lnTo>
                <a:lnTo>
                  <a:pt x="153550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240090" y="0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5" y="0"/>
                </a:lnTo>
                <a:lnTo>
                  <a:pt x="18965015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-240090" y="6808822"/>
            <a:ext cx="4814754" cy="3757514"/>
          </a:xfrm>
          <a:custGeom>
            <a:avLst/>
            <a:gdLst/>
            <a:ahLst/>
            <a:cxnLst/>
            <a:rect l="l" t="t" r="r" b="b"/>
            <a:pathLst>
              <a:path w="4814754" h="3757514">
                <a:moveTo>
                  <a:pt x="0" y="0"/>
                </a:moveTo>
                <a:lnTo>
                  <a:pt x="4814753" y="0"/>
                </a:lnTo>
                <a:lnTo>
                  <a:pt x="4814753" y="3757514"/>
                </a:lnTo>
                <a:lnTo>
                  <a:pt x="0" y="3757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2918549" y="2527154"/>
            <a:ext cx="11488730" cy="6290080"/>
          </a:xfrm>
          <a:custGeom>
            <a:avLst/>
            <a:gdLst/>
            <a:ahLst/>
            <a:cxnLst/>
            <a:rect l="l" t="t" r="r" b="b"/>
            <a:pathLst>
              <a:path w="11488730" h="6290080">
                <a:moveTo>
                  <a:pt x="0" y="0"/>
                </a:moveTo>
                <a:lnTo>
                  <a:pt x="11488730" y="0"/>
                </a:lnTo>
                <a:lnTo>
                  <a:pt x="11488730" y="6290079"/>
                </a:lnTo>
                <a:lnTo>
                  <a:pt x="0" y="6290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1205682" y="1579238"/>
            <a:ext cx="151904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Result — stain normalisation (before / after)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104242" y="9095175"/>
            <a:ext cx="15355014" cy="1580287"/>
          </a:xfrm>
          <a:custGeom>
            <a:avLst/>
            <a:gdLst/>
            <a:ahLst/>
            <a:cxnLst/>
            <a:rect l="l" t="t" r="r" b="b"/>
            <a:pathLst>
              <a:path w="15355014" h="1580287">
                <a:moveTo>
                  <a:pt x="15355013" y="0"/>
                </a:moveTo>
                <a:lnTo>
                  <a:pt x="0" y="0"/>
                </a:lnTo>
                <a:lnTo>
                  <a:pt x="0" y="1580287"/>
                </a:lnTo>
                <a:lnTo>
                  <a:pt x="15355013" y="1580287"/>
                </a:lnTo>
                <a:lnTo>
                  <a:pt x="153550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240090" y="0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5" y="0"/>
                </a:lnTo>
                <a:lnTo>
                  <a:pt x="18965015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-240090" y="6808822"/>
            <a:ext cx="4814754" cy="3757514"/>
          </a:xfrm>
          <a:custGeom>
            <a:avLst/>
            <a:gdLst/>
            <a:ahLst/>
            <a:cxnLst/>
            <a:rect l="l" t="t" r="r" b="b"/>
            <a:pathLst>
              <a:path w="4814754" h="3757514">
                <a:moveTo>
                  <a:pt x="0" y="0"/>
                </a:moveTo>
                <a:lnTo>
                  <a:pt x="4814753" y="0"/>
                </a:lnTo>
                <a:lnTo>
                  <a:pt x="4814753" y="3757514"/>
                </a:lnTo>
                <a:lnTo>
                  <a:pt x="0" y="3757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3472525" y="2653049"/>
            <a:ext cx="6357108" cy="6906783"/>
          </a:xfrm>
          <a:custGeom>
            <a:avLst/>
            <a:gdLst/>
            <a:ahLst/>
            <a:cxnLst/>
            <a:rect l="l" t="t" r="r" b="b"/>
            <a:pathLst>
              <a:path w="6357108" h="6906783">
                <a:moveTo>
                  <a:pt x="0" y="0"/>
                </a:moveTo>
                <a:lnTo>
                  <a:pt x="6357108" y="0"/>
                </a:lnTo>
                <a:lnTo>
                  <a:pt x="6357108" y="6906782"/>
                </a:lnTo>
                <a:lnTo>
                  <a:pt x="0" y="6906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1205682" y="1579238"/>
            <a:ext cx="1519041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Result — extracted tissue patches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8988"/>
            <a:ext cx="11963598" cy="8558958"/>
          </a:xfrm>
          <a:custGeom>
            <a:avLst/>
            <a:gdLst/>
            <a:ahLst/>
            <a:cxnLst/>
            <a:rect l="l" t="t" r="r" b="b"/>
            <a:pathLst>
              <a:path w="11963598" h="8558958">
                <a:moveTo>
                  <a:pt x="0" y="0"/>
                </a:moveTo>
                <a:lnTo>
                  <a:pt x="11963598" y="0"/>
                </a:lnTo>
                <a:lnTo>
                  <a:pt x="11963598" y="8558957"/>
                </a:lnTo>
                <a:lnTo>
                  <a:pt x="0" y="8558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338331" y="9872845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6" y="0"/>
                </a:lnTo>
                <a:lnTo>
                  <a:pt x="18965016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3326442" y="3665342"/>
            <a:ext cx="14087717" cy="3508366"/>
          </a:xfrm>
          <a:custGeom>
            <a:avLst/>
            <a:gdLst/>
            <a:ahLst/>
            <a:cxnLst/>
            <a:rect l="l" t="t" r="r" b="b"/>
            <a:pathLst>
              <a:path w="14087717" h="3508366">
                <a:moveTo>
                  <a:pt x="0" y="0"/>
                </a:moveTo>
                <a:lnTo>
                  <a:pt x="14087717" y="0"/>
                </a:lnTo>
                <a:lnTo>
                  <a:pt x="14087717" y="3508366"/>
                </a:lnTo>
                <a:lnTo>
                  <a:pt x="0" y="3508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1543998" y="7441442"/>
            <a:ext cx="15715302" cy="116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33"/>
              </a:lnSpc>
            </a:pPr>
            <a:r>
              <a:rPr lang="en-US" sz="3309">
                <a:solidFill>
                  <a:srgbClr val="2C3423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Pipeline runs end-to-end and is ready to run unchanged on the real CATCH slides once the TCIA download completes.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590" y="2500353"/>
            <a:ext cx="1032756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Validation run (synthetic slides)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8988"/>
            <a:ext cx="11963598" cy="8558958"/>
          </a:xfrm>
          <a:custGeom>
            <a:avLst/>
            <a:gdLst/>
            <a:ahLst/>
            <a:cxnLst/>
            <a:rect l="l" t="t" r="r" b="b"/>
            <a:pathLst>
              <a:path w="11963598" h="8558958">
                <a:moveTo>
                  <a:pt x="0" y="0"/>
                </a:moveTo>
                <a:lnTo>
                  <a:pt x="11963598" y="0"/>
                </a:lnTo>
                <a:lnTo>
                  <a:pt x="11963598" y="8558957"/>
                </a:lnTo>
                <a:lnTo>
                  <a:pt x="0" y="85589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338331" y="9872845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6" y="0"/>
                </a:lnTo>
                <a:lnTo>
                  <a:pt x="18965016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028700" y="3635023"/>
            <a:ext cx="16580341" cy="2673580"/>
          </a:xfrm>
          <a:custGeom>
            <a:avLst/>
            <a:gdLst/>
            <a:ahLst/>
            <a:cxnLst/>
            <a:rect l="l" t="t" r="r" b="b"/>
            <a:pathLst>
              <a:path w="16580341" h="2673580">
                <a:moveTo>
                  <a:pt x="0" y="0"/>
                </a:moveTo>
                <a:lnTo>
                  <a:pt x="16580341" y="0"/>
                </a:lnTo>
                <a:lnTo>
                  <a:pt x="16580341" y="2673580"/>
                </a:lnTo>
                <a:lnTo>
                  <a:pt x="0" y="2673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7086590" y="2500353"/>
            <a:ext cx="1032756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Risks &amp; mitigations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104242" y="9095175"/>
            <a:ext cx="15355014" cy="1580287"/>
          </a:xfrm>
          <a:custGeom>
            <a:avLst/>
            <a:gdLst/>
            <a:ahLst/>
            <a:cxnLst/>
            <a:rect l="l" t="t" r="r" b="b"/>
            <a:pathLst>
              <a:path w="15355014" h="1580287">
                <a:moveTo>
                  <a:pt x="15355013" y="0"/>
                </a:moveTo>
                <a:lnTo>
                  <a:pt x="0" y="0"/>
                </a:lnTo>
                <a:lnTo>
                  <a:pt x="0" y="1580287"/>
                </a:lnTo>
                <a:lnTo>
                  <a:pt x="15355013" y="1580287"/>
                </a:lnTo>
                <a:lnTo>
                  <a:pt x="1535501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-240090" y="0"/>
            <a:ext cx="18965016" cy="600559"/>
          </a:xfrm>
          <a:custGeom>
            <a:avLst/>
            <a:gdLst/>
            <a:ahLst/>
            <a:cxnLst/>
            <a:rect l="l" t="t" r="r" b="b"/>
            <a:pathLst>
              <a:path w="18965016" h="600559">
                <a:moveTo>
                  <a:pt x="0" y="0"/>
                </a:moveTo>
                <a:lnTo>
                  <a:pt x="18965015" y="0"/>
                </a:lnTo>
                <a:lnTo>
                  <a:pt x="18965015" y="600559"/>
                </a:lnTo>
                <a:lnTo>
                  <a:pt x="0" y="600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1205682" y="1579238"/>
            <a:ext cx="10146439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Next fortnight (Weeks 3–5)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682" y="2664858"/>
            <a:ext cx="14186718" cy="2161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Complete CATCH download → run pipeline on all real slides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 err="1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Finalise</a:t>
            </a: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 patch dataset + class statistics</a:t>
            </a:r>
          </a:p>
          <a:p>
            <a:pPr marL="649509" lvl="1" indent="-324754" algn="l">
              <a:lnSpc>
                <a:spcPts val="5776"/>
              </a:lnSpc>
              <a:buFont typeface="Arial"/>
              <a:buChar char="•"/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Start U-Net segmentation (baseline → ResNet-34 encoder)</a:t>
            </a:r>
          </a:p>
        </p:txBody>
      </p:sp>
      <p:sp>
        <p:nvSpPr>
          <p:cNvPr id="6" name="Freeform 6"/>
          <p:cNvSpPr/>
          <p:nvPr/>
        </p:nvSpPr>
        <p:spPr>
          <a:xfrm>
            <a:off x="-240090" y="6808822"/>
            <a:ext cx="4814754" cy="3757514"/>
          </a:xfrm>
          <a:custGeom>
            <a:avLst/>
            <a:gdLst/>
            <a:ahLst/>
            <a:cxnLst/>
            <a:rect l="l" t="t" r="r" b="b"/>
            <a:pathLst>
              <a:path w="4814754" h="3757514">
                <a:moveTo>
                  <a:pt x="0" y="0"/>
                </a:moveTo>
                <a:lnTo>
                  <a:pt x="4814753" y="0"/>
                </a:lnTo>
                <a:lnTo>
                  <a:pt x="4814753" y="3757514"/>
                </a:lnTo>
                <a:lnTo>
                  <a:pt x="0" y="3757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7" name="TextBox 7"/>
          <p:cNvSpPr txBox="1"/>
          <p:nvPr/>
        </p:nvSpPr>
        <p:spPr>
          <a:xfrm>
            <a:off x="1382662" y="5666372"/>
            <a:ext cx="14619337" cy="673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76"/>
              </a:lnSpc>
            </a:pPr>
            <a:r>
              <a:rPr lang="en-US" sz="3008" dirty="0">
                <a:solidFill>
                  <a:srgbClr val="2C3423"/>
                </a:solidFill>
                <a:latin typeface="Garet"/>
                <a:ea typeface="Garet"/>
                <a:cs typeface="Garet"/>
                <a:sym typeface="Garet"/>
              </a:rPr>
              <a:t>Questions: QA thresholds OK? · final class list? · magnification priority?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738" y="9629190"/>
            <a:ext cx="20772950" cy="657810"/>
          </a:xfrm>
          <a:custGeom>
            <a:avLst/>
            <a:gdLst/>
            <a:ahLst/>
            <a:cxnLst/>
            <a:rect l="l" t="t" r="r" b="b"/>
            <a:pathLst>
              <a:path w="20772950" h="657810">
                <a:moveTo>
                  <a:pt x="0" y="0"/>
                </a:moveTo>
                <a:lnTo>
                  <a:pt x="20772950" y="0"/>
                </a:lnTo>
                <a:lnTo>
                  <a:pt x="20772950" y="657810"/>
                </a:lnTo>
                <a:lnTo>
                  <a:pt x="0" y="65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H="1" flipV="1">
            <a:off x="8579283" y="-367709"/>
            <a:ext cx="10161929" cy="10654709"/>
          </a:xfrm>
          <a:custGeom>
            <a:avLst/>
            <a:gdLst/>
            <a:ahLst/>
            <a:cxnLst/>
            <a:rect l="l" t="t" r="r" b="b"/>
            <a:pathLst>
              <a:path w="10161929" h="10654709">
                <a:moveTo>
                  <a:pt x="10161929" y="10654709"/>
                </a:moveTo>
                <a:lnTo>
                  <a:pt x="0" y="10654709"/>
                </a:lnTo>
                <a:lnTo>
                  <a:pt x="0" y="0"/>
                </a:lnTo>
                <a:lnTo>
                  <a:pt x="10161929" y="0"/>
                </a:lnTo>
                <a:lnTo>
                  <a:pt x="10161929" y="106547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1028700" y="8826500"/>
            <a:ext cx="393245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AF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@reallygreatsite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956235"/>
            <a:ext cx="10790665" cy="214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95"/>
              </a:lnSpc>
            </a:pPr>
            <a:r>
              <a:rPr lang="en-US" sz="12639" b="1">
                <a:solidFill>
                  <a:srgbClr val="2C3423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54540"/>
            <a:ext cx="6743700" cy="555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8"/>
              </a:lnSpc>
              <a:spcBef>
                <a:spcPct val="0"/>
              </a:spcBef>
            </a:pPr>
            <a:r>
              <a:rPr lang="en-US" sz="319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331</Words>
  <Application>Microsoft Office PowerPoint</Application>
  <PresentationFormat>Custom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Open Sans Bold</vt:lpstr>
      <vt:lpstr>Arial</vt:lpstr>
      <vt:lpstr>Aristotelica Pro</vt:lpstr>
      <vt:lpstr>Garet Bold</vt:lpstr>
      <vt:lpstr>Garet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Supervisor_Meeting_Week1-2</dc:title>
  <dc:creator>ASUS</dc:creator>
  <cp:lastModifiedBy>Dilawar Khan</cp:lastModifiedBy>
  <cp:revision>5</cp:revision>
  <dcterms:created xsi:type="dcterms:W3CDTF">2006-08-16T00:00:00Z</dcterms:created>
  <dcterms:modified xsi:type="dcterms:W3CDTF">2026-06-01T14:43:04Z</dcterms:modified>
  <dc:identifier>DAHLVs5goBM</dc:identifier>
</cp:coreProperties>
</file>